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lehighlabs.ai/" TargetMode="External"/><Relationship Id="rId3" Type="http://schemas.openxmlformats.org/officeDocument/2006/relationships/hyperlink" Target="https://www.milehighlabs.ai/" TargetMode="External"/><Relationship Id="rId1" Type="http://schemas.openxmlformats.org/officeDocument/2006/relationships/image" Target="../media/image-1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lehighlabs.ai/" TargetMode="External"/><Relationship Id="rId1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ilehighlabs.ai/" TargetMode="External"/><Relationship Id="rId2" Type="http://schemas.openxmlformats.org/officeDocument/2006/relationships/hyperlink" Target="https://www.milehighlabs.ai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hyperlink" Target="https://www.milehighlabs.ai/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ilehighlabs.ai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lehighlabs.ai/" TargetMode="External"/><Relationship Id="rId1" Type="http://schemas.openxmlformats.org/officeDocument/2006/relationships/image" Target="../media/image-6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milehighlabs.ai/" TargetMode="External"/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milehighlabs.ai/" TargetMode="External"/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milehighlabs.ai/" TargetMode="External"/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milehighlabs.ai/" TargetMode="External"/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milehighlabs.ai/" TargetMode="External"/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hyperlink" Target="https://www.milehighlabs.ai/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al.com/milehighailabs/15min" TargetMode="External"/><Relationship Id="rId3" Type="http://schemas.openxmlformats.org/officeDocument/2006/relationships/hyperlink" Target="https://www.milehighlabs.ai/" TargetMode="External"/><Relationship Id="rId1" Type="http://schemas.openxmlformats.org/officeDocument/2006/relationships/image" Target="../media/image-13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705368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053682" cy="6858000"/>
          </a:xfrm>
          <a:prstGeom prst="rect">
            <a:avLst/>
          </a:prstGeom>
          <a:solidFill>
            <a:srgbClr val="2C181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053682" y="0"/>
            <a:ext cx="5107838" cy="68580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5" name="Shape 2"/>
          <p:cNvSpPr/>
          <p:nvPr/>
        </p:nvSpPr>
        <p:spPr>
          <a:xfrm>
            <a:off x="7053682" y="0"/>
            <a:ext cx="54864" cy="685800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6" name="Text 3"/>
          <p:cNvSpPr/>
          <p:nvPr/>
        </p:nvSpPr>
        <p:spPr>
          <a:xfrm>
            <a:off x="7510882" y="1371600"/>
            <a:ext cx="4376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INTRODUCTION PROPOSAL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10882" y="1737360"/>
            <a:ext cx="437631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ABODABLE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RENOVATIONS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510882" y="3611880"/>
            <a:ext cx="91440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9" name="Text 6"/>
          <p:cNvSpPr/>
          <p:nvPr/>
        </p:nvSpPr>
        <p:spPr>
          <a:xfrm>
            <a:off x="7510882" y="3794760"/>
            <a:ext cx="4376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Kitchen Cabinet Renovation Services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10882" y="4343400"/>
            <a:ext cx="43763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A8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Imagine your dream kitchen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A8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we build it.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10882" y="5349240"/>
            <a:ext cx="4376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E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Virtual Design Technology by</a:t>
            </a:r>
            <a:endParaRPr lang="en-US" sz="900" dirty="0"/>
          </a:p>
        </p:txBody>
      </p:sp>
      <p:sp>
        <p:nvSpPr>
          <p:cNvPr id="12" name="Text 9">
            <a:hlinkClick r:id="rId2" tooltip=""/>
          </p:cNvPr>
          <p:cNvSpPr/>
          <p:nvPr/>
        </p:nvSpPr>
        <p:spPr>
          <a:xfrm>
            <a:off x="7510882" y="5669280"/>
            <a:ext cx="4376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Mile High AI Labs  ·  milehighlabs.ai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15" name="Text 12">
            <a:hlinkClick r:id="rId3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ABOUT 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Renovation You Can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Before It Happens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64008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743200"/>
            <a:ext cx="109728" cy="109728"/>
          </a:xfrm>
          <a:prstGeom prst="ellipse">
            <a:avLst/>
          </a:prstGeom>
          <a:solidFill>
            <a:srgbClr val="C8973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3347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 Abodable Renovations, we believe every homeowner and real estate investor deserves confidence before the project begins.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47872"/>
            <a:ext cx="109728" cy="109728"/>
          </a:xfrm>
          <a:prstGeom prst="ellipse">
            <a:avLst/>
          </a:prstGeom>
          <a:solidFill>
            <a:srgbClr val="C897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43814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AI-powered service starts with a high-fidelity virtual rendering of your renovated kitchen in your chosen style, finish, and hardware.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352544"/>
            <a:ext cx="109728" cy="109728"/>
          </a:xfrm>
          <a:prstGeom prst="ellipse">
            <a:avLst/>
          </a:prstGeom>
          <a:solidFill>
            <a:srgbClr val="C897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42816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Once you love what you see, we provide a detailed price estimation and a clear path to making it real.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457200"/>
            <a:ext cx="5303520" cy="585216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228600" dist="762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640080"/>
            <a:ext cx="4937760" cy="51206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36208" y="292608"/>
            <a:ext cx="164592" cy="109728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6208" y="292608"/>
            <a:ext cx="914400" cy="164592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15" name="Shape 1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17" name="Text 14">
            <a:hlinkClick r:id="rId2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3A1F12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685800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F2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6400" dirty="0"/>
          </a:p>
          <a:p>
            <a:pPr algn="ctr" indent="0" marL="0">
              <a:buNone/>
            </a:pPr>
            <a:r>
              <a:rPr lang="en-US" sz="6400" b="1" dirty="0">
                <a:solidFill>
                  <a:srgbClr val="3F2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8C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8C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297680" y="6400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TECHNOLOGY PARTNERSHIP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0" y="96012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Design Powered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Artificial Intelligence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297680" y="2633472"/>
            <a:ext cx="82296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2788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8A8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Mile High AI Labs is a cutting-edge virtual design studio that transforms renovation concepts into photorealistic renders. Their AI-driven platform maps multiple cabinet styles, finishes, handle options, and materials directly onto images of your actual kitchen — before any physical work begins.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4434840"/>
            <a:ext cx="4572000" cy="1371600"/>
          </a:xfrm>
          <a:prstGeom prst="rect">
            <a:avLst/>
          </a:prstGeom>
          <a:solidFill>
            <a:srgbClr val="3A1F12"/>
          </a:solidFill>
          <a:ln w="12700">
            <a:solidFill>
              <a:srgbClr val="E8C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4526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E8C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 HIGH AI LABS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49560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E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Virtual Design Partner</a:t>
            </a:r>
            <a:endParaRPr lang="en-US" sz="100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4297680" y="5230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milehighlabs.ai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WE OFFER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Services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0" y="1554480"/>
            <a:ext cx="82296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920240"/>
            <a:ext cx="35661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3566160" cy="64008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04825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6152" y="202996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Virtual Design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7512" y="2606040"/>
            <a:ext cx="32735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Photorealistic renders of your new kitchen — in your chosen style, finish, and hardware — before work begins.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920240"/>
            <a:ext cx="35661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1920240"/>
            <a:ext cx="3566160" cy="64008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0482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02996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Consultation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53712" y="2606040"/>
            <a:ext cx="32735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modern high-gloss, classic shaker, and more. Paired with knobs, handles, and premium material options.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75320" y="1920240"/>
            <a:ext cx="35661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1920240"/>
            <a:ext cx="3566160" cy="64008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04825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88552" y="202996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Price Proposal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439912" y="2606040"/>
            <a:ext cx="32735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Comprehensive, itemized estimates covering materials, hardware, labor, and installation with full transparency.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913632"/>
            <a:ext cx="35661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" y="3913632"/>
            <a:ext cx="3566160" cy="64008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041648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16152" y="402336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Cabinet Renovation &amp; Install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67512" y="4599432"/>
            <a:ext cx="32735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Precision removal and expert installation ensuring the finished result matches your approved design exactly.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0" y="3913632"/>
            <a:ext cx="35661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89120" y="3913632"/>
            <a:ext cx="3566160" cy="64008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4041648"/>
            <a:ext cx="475488" cy="4754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02352" y="402336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&amp; Material Selection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53712" y="4599432"/>
            <a:ext cx="32735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Premium hardware and finishes across multiple price tiers to match your aesthetic vision and budget.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275320" y="3913632"/>
            <a:ext cx="35661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75320" y="3913632"/>
            <a:ext cx="3566160" cy="64008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041648"/>
            <a:ext cx="475488" cy="4754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88552" y="402336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Property Packages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439912" y="4599432"/>
            <a:ext cx="32735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ROI-maximizing design choices, rapid turnarounds, and cost-efficient selections for real estate investors.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6" name="Text 28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37" name="Text 29">
            <a:hlinkClick r:id="rId7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828800" y="2496312"/>
            <a:ext cx="8595360" cy="0"/>
          </a:xfrm>
          <a:prstGeom prst="line">
            <a:avLst/>
          </a:prstGeom>
          <a:noFill/>
          <a:ln w="19050">
            <a:solidFill>
              <a:srgbClr val="E8C47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481328" y="2103120"/>
            <a:ext cx="694944" cy="694944"/>
          </a:xfrm>
          <a:prstGeom prst="ellipse">
            <a:avLst/>
          </a:prstGeom>
          <a:solidFill>
            <a:srgbClr val="C8973F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81328" y="21031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2651760" cy="2606040"/>
          </a:xfrm>
          <a:prstGeom prst="rect">
            <a:avLst/>
          </a:prstGeom>
          <a:solidFill>
            <a:srgbClr val="3A1F12"/>
          </a:solidFill>
          <a:ln w="6350">
            <a:solidFill>
              <a:srgbClr val="E8C47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310896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Your Space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" y="3794760"/>
            <a:ext cx="45720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3931920"/>
            <a:ext cx="23225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A8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Send us photos of your current kitchen. We review your layout, cabinet structure, and space.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98848" y="2103120"/>
            <a:ext cx="694944" cy="694944"/>
          </a:xfrm>
          <a:prstGeom prst="ellipse">
            <a:avLst/>
          </a:prstGeom>
          <a:solidFill>
            <a:srgbClr val="C8973F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98848" y="21031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20440" y="2971800"/>
            <a:ext cx="2651760" cy="2606040"/>
          </a:xfrm>
          <a:prstGeom prst="rect">
            <a:avLst/>
          </a:prstGeom>
          <a:solidFill>
            <a:srgbClr val="3A1F12"/>
          </a:solidFill>
          <a:ln w="6350">
            <a:solidFill>
              <a:srgbClr val="E8C47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310896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Consultation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85032" y="3794760"/>
            <a:ext cx="45720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16" name="Text 14"/>
          <p:cNvSpPr/>
          <p:nvPr/>
        </p:nvSpPr>
        <p:spPr>
          <a:xfrm>
            <a:off x="3685032" y="3931920"/>
            <a:ext cx="23225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A8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discuss your preferred styles, materials, colors, and hardware. Our specialists guide every option.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16368" y="2103120"/>
            <a:ext cx="694944" cy="694944"/>
          </a:xfrm>
          <a:prstGeom prst="ellipse">
            <a:avLst/>
          </a:prstGeom>
          <a:solidFill>
            <a:srgbClr val="C8973F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16368" y="21031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37960" y="2971800"/>
            <a:ext cx="2651760" cy="2606040"/>
          </a:xfrm>
          <a:prstGeom prst="rect">
            <a:avLst/>
          </a:prstGeom>
          <a:solidFill>
            <a:srgbClr val="3A1F12"/>
          </a:solidFill>
          <a:ln w="6350">
            <a:solidFill>
              <a:srgbClr val="E8C47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310896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Visualization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02552" y="3794760"/>
            <a:ext cx="45720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22" name="Text 20"/>
          <p:cNvSpPr/>
          <p:nvPr/>
        </p:nvSpPr>
        <p:spPr>
          <a:xfrm>
            <a:off x="6702552" y="3931920"/>
            <a:ext cx="23225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A8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Mile High AI Labs renders your new kitchen. Review and refine until it matches your exact vision.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533888" y="2103120"/>
            <a:ext cx="694944" cy="694944"/>
          </a:xfrm>
          <a:prstGeom prst="ellipse">
            <a:avLst/>
          </a:prstGeom>
          <a:solidFill>
            <a:srgbClr val="C8973F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33888" y="21031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555480" y="2971800"/>
            <a:ext cx="2651760" cy="2606040"/>
          </a:xfrm>
          <a:prstGeom prst="rect">
            <a:avLst/>
          </a:prstGeom>
          <a:solidFill>
            <a:srgbClr val="3A1F12"/>
          </a:solidFill>
          <a:ln w="6350">
            <a:solidFill>
              <a:srgbClr val="E8C47A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20072" y="310896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 &amp; Build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20072" y="3794760"/>
            <a:ext cx="45720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28" name="Text 26"/>
          <p:cNvSpPr/>
          <p:nvPr/>
        </p:nvSpPr>
        <p:spPr>
          <a:xfrm>
            <a:off x="9720072" y="3931920"/>
            <a:ext cx="23225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A8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receive a detailed price proposal. Once confirmed, we handle the full renovation start to finish.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31" name="Text 29">
            <a:hlinkClick r:id="rId1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C1810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164592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5166360" y="2743200"/>
            <a:ext cx="182880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288036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E8C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GALLERY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1371600" y="38404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8A8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project below was visualized virtually before the first nail was driven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10" name="Text 7">
            <a:hlinkClick r:id="rId2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&amp; After  —  1 of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11247120" cy="27432"/>
          </a:xfrm>
          <a:prstGeom prst="rect">
            <a:avLst/>
          </a:prstGeom>
          <a:solidFill>
            <a:srgbClr val="3A22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2670048" cy="274320"/>
          </a:xfrm>
          <a:prstGeom prst="rect">
            <a:avLst/>
          </a:prstGeom>
          <a:solidFill>
            <a:srgbClr val="2A18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2670048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73552" y="594360"/>
            <a:ext cx="2670048" cy="274320"/>
          </a:xfrm>
          <a:prstGeom prst="rect">
            <a:avLst/>
          </a:prstGeom>
          <a:solidFill>
            <a:srgbClr val="3A20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73552" y="868680"/>
            <a:ext cx="2670048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27248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4160520"/>
            <a:ext cx="5486400" cy="1389888"/>
          </a:xfrm>
          <a:prstGeom prst="rect">
            <a:avLst/>
          </a:prstGeom>
          <a:solidFill>
            <a:srgbClr val="2C1810"/>
          </a:solidFill>
          <a:ln w="6350">
            <a:solidFill>
              <a:srgbClr val="E8C47A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251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Brown → Modern White High-Gloss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" y="4782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Silver bar handles · High-gloss finish · Contemporary style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217920" y="594360"/>
            <a:ext cx="2670048" cy="274320"/>
          </a:xfrm>
          <a:prstGeom prst="rect">
            <a:avLst/>
          </a:prstGeom>
          <a:solidFill>
            <a:srgbClr val="2A18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868680"/>
            <a:ext cx="2670048" cy="3291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34272" y="594360"/>
            <a:ext cx="2670048" cy="274320"/>
          </a:xfrm>
          <a:prstGeom prst="rect">
            <a:avLst/>
          </a:prstGeom>
          <a:solidFill>
            <a:srgbClr val="3A20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34272" y="868680"/>
            <a:ext cx="2670048" cy="32918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87968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217920" y="4160520"/>
            <a:ext cx="5486400" cy="1389888"/>
          </a:xfrm>
          <a:prstGeom prst="rect">
            <a:avLst/>
          </a:prstGeom>
          <a:solidFill>
            <a:srgbClr val="2C1810"/>
          </a:solidFill>
          <a:ln w="6350">
            <a:solidFill>
              <a:srgbClr val="E8C47A">
                <a:alpha val="3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355080" y="4251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Charcoal Gray → Bright White Shaker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55080" y="4782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Gold pull handles · Shaker door profile · Quartz countertops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007608" y="594360"/>
            <a:ext cx="54864" cy="5852160"/>
          </a:xfrm>
          <a:prstGeom prst="rect">
            <a:avLst/>
          </a:prstGeom>
          <a:solidFill>
            <a:srgbClr val="3A2215"/>
          </a:solidFill>
          <a:ln/>
        </p:spPr>
      </p:sp>
      <p:sp>
        <p:nvSpPr>
          <p:cNvPr id="21" name="Shape 15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2" name="Text 16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23" name="Text 17">
            <a:hlinkClick r:id="rId5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&amp; After  —  3 of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11247120" cy="27432"/>
          </a:xfrm>
          <a:prstGeom prst="rect">
            <a:avLst/>
          </a:prstGeom>
          <a:solidFill>
            <a:srgbClr val="3A22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2670048" cy="274320"/>
          </a:xfrm>
          <a:prstGeom prst="rect">
            <a:avLst/>
          </a:prstGeom>
          <a:solidFill>
            <a:srgbClr val="2A18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2670048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73552" y="594360"/>
            <a:ext cx="2670048" cy="274320"/>
          </a:xfrm>
          <a:prstGeom prst="rect">
            <a:avLst/>
          </a:prstGeom>
          <a:solidFill>
            <a:srgbClr val="3A20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73552" y="868680"/>
            <a:ext cx="2670048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27248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4160520"/>
            <a:ext cx="5486400" cy="1389888"/>
          </a:xfrm>
          <a:prstGeom prst="rect">
            <a:avLst/>
          </a:prstGeom>
          <a:solidFill>
            <a:srgbClr val="2C1810"/>
          </a:solidFill>
          <a:ln w="6350">
            <a:solidFill>
              <a:srgbClr val="E8C47A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251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Oak → Crisp White Open Kitchen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" y="4782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Black hardware · Open shelving accents · Full kitchen transformation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217920" y="594360"/>
            <a:ext cx="2670048" cy="274320"/>
          </a:xfrm>
          <a:prstGeom prst="rect">
            <a:avLst/>
          </a:prstGeom>
          <a:solidFill>
            <a:srgbClr val="2A18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868680"/>
            <a:ext cx="2670048" cy="3291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34272" y="594360"/>
            <a:ext cx="2670048" cy="274320"/>
          </a:xfrm>
          <a:prstGeom prst="rect">
            <a:avLst/>
          </a:prstGeom>
          <a:solidFill>
            <a:srgbClr val="3A20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34272" y="868680"/>
            <a:ext cx="2670048" cy="32918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87968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217920" y="4160520"/>
            <a:ext cx="5486400" cy="1389888"/>
          </a:xfrm>
          <a:prstGeom prst="rect">
            <a:avLst/>
          </a:prstGeom>
          <a:solidFill>
            <a:srgbClr val="2C1810"/>
          </a:solidFill>
          <a:ln w="6350">
            <a:solidFill>
              <a:srgbClr val="E8C47A">
                <a:alpha val="3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355080" y="4251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Open Kitchen → Elevated White &amp; Gold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55080" y="4782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Gold cabinet hardware · Marble backsplash · Open concept layout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007608" y="594360"/>
            <a:ext cx="54864" cy="5852160"/>
          </a:xfrm>
          <a:prstGeom prst="rect">
            <a:avLst/>
          </a:prstGeom>
          <a:solidFill>
            <a:srgbClr val="3A2215"/>
          </a:solidFill>
          <a:ln/>
        </p:spPr>
      </p:sp>
      <p:sp>
        <p:nvSpPr>
          <p:cNvPr id="21" name="Shape 15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2" name="Text 16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23" name="Text 17">
            <a:hlinkClick r:id="rId5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&amp; After  —  5 of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11247120" cy="27432"/>
          </a:xfrm>
          <a:prstGeom prst="rect">
            <a:avLst/>
          </a:prstGeom>
          <a:solidFill>
            <a:srgbClr val="3A22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2670048" cy="274320"/>
          </a:xfrm>
          <a:prstGeom prst="rect">
            <a:avLst/>
          </a:prstGeom>
          <a:solidFill>
            <a:srgbClr val="2A18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2670048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73552" y="594360"/>
            <a:ext cx="2670048" cy="274320"/>
          </a:xfrm>
          <a:prstGeom prst="rect">
            <a:avLst/>
          </a:prstGeom>
          <a:solidFill>
            <a:srgbClr val="3A20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73552" y="868680"/>
            <a:ext cx="2670048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27248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4160520"/>
            <a:ext cx="5486400" cy="1389888"/>
          </a:xfrm>
          <a:prstGeom prst="rect">
            <a:avLst/>
          </a:prstGeom>
          <a:solidFill>
            <a:srgbClr val="2C1810"/>
          </a:solidFill>
          <a:ln w="6350">
            <a:solidFill>
              <a:srgbClr val="E8C47A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251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Oak → Elegant Cream &amp; Gold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" y="4782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Gold round knobs · Marble countertops · Luxury finish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217920" y="594360"/>
            <a:ext cx="2670048" cy="274320"/>
          </a:xfrm>
          <a:prstGeom prst="rect">
            <a:avLst/>
          </a:prstGeom>
          <a:solidFill>
            <a:srgbClr val="2A18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868680"/>
            <a:ext cx="2670048" cy="3291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34272" y="594360"/>
            <a:ext cx="2670048" cy="274320"/>
          </a:xfrm>
          <a:prstGeom prst="rect">
            <a:avLst/>
          </a:prstGeom>
          <a:solidFill>
            <a:srgbClr val="3A20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34272" y="868680"/>
            <a:ext cx="2670048" cy="32918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87968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217920" y="4160520"/>
            <a:ext cx="5486400" cy="1389888"/>
          </a:xfrm>
          <a:prstGeom prst="rect">
            <a:avLst/>
          </a:prstGeom>
          <a:solidFill>
            <a:srgbClr val="2C1810"/>
          </a:solidFill>
          <a:ln w="6350">
            <a:solidFill>
              <a:srgbClr val="E8C47A">
                <a:alpha val="3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355080" y="4251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Dated Cabinetry → Fresh Modern Finish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55080" y="4782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Updated hardware · New door profiles · Complete restyling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007608" y="594360"/>
            <a:ext cx="54864" cy="5852160"/>
          </a:xfrm>
          <a:prstGeom prst="rect">
            <a:avLst/>
          </a:prstGeom>
          <a:solidFill>
            <a:srgbClr val="3A2215"/>
          </a:solidFill>
          <a:ln/>
        </p:spPr>
      </p:sp>
      <p:sp>
        <p:nvSpPr>
          <p:cNvPr id="21" name="Shape 15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2" name="Text 16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23" name="Text 17">
            <a:hlinkClick r:id="rId5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&amp; After  —  7 of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11247120" cy="27432"/>
          </a:xfrm>
          <a:prstGeom prst="rect">
            <a:avLst/>
          </a:prstGeom>
          <a:solidFill>
            <a:srgbClr val="3A22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2670048" cy="274320"/>
          </a:xfrm>
          <a:prstGeom prst="rect">
            <a:avLst/>
          </a:prstGeom>
          <a:solidFill>
            <a:srgbClr val="2A18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2670048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73552" y="594360"/>
            <a:ext cx="2670048" cy="274320"/>
          </a:xfrm>
          <a:prstGeom prst="rect">
            <a:avLst/>
          </a:prstGeom>
          <a:solidFill>
            <a:srgbClr val="3A20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73552" y="868680"/>
            <a:ext cx="2670048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27248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4160520"/>
            <a:ext cx="5486400" cy="1389888"/>
          </a:xfrm>
          <a:prstGeom prst="rect">
            <a:avLst/>
          </a:prstGeom>
          <a:solidFill>
            <a:srgbClr val="2C1810"/>
          </a:solidFill>
          <a:ln w="6350">
            <a:solidFill>
              <a:srgbClr val="E8C47A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251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Style → Contemporary Upgrade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" y="4782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Brushed nickel hardware · Clean panel doors · Bright finish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217920" y="594360"/>
            <a:ext cx="2670048" cy="274320"/>
          </a:xfrm>
          <a:prstGeom prst="rect">
            <a:avLst/>
          </a:prstGeom>
          <a:solidFill>
            <a:srgbClr val="2A18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868680"/>
            <a:ext cx="2670048" cy="3291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34272" y="594360"/>
            <a:ext cx="2670048" cy="274320"/>
          </a:xfrm>
          <a:prstGeom prst="rect">
            <a:avLst/>
          </a:prstGeom>
          <a:solidFill>
            <a:srgbClr val="3A20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34272" y="868680"/>
            <a:ext cx="2670048" cy="32918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87968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217920" y="4160520"/>
            <a:ext cx="5486400" cy="1389888"/>
          </a:xfrm>
          <a:prstGeom prst="rect">
            <a:avLst/>
          </a:prstGeom>
          <a:solidFill>
            <a:srgbClr val="2C1810"/>
          </a:solidFill>
          <a:ln w="6350">
            <a:solidFill>
              <a:srgbClr val="E8C47A">
                <a:alpha val="3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355080" y="4251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Worn Finish → Refreshed &amp; Refined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55080" y="4782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Matte hardware · Two-tone color option · Improved storage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007608" y="594360"/>
            <a:ext cx="54864" cy="5852160"/>
          </a:xfrm>
          <a:prstGeom prst="rect">
            <a:avLst/>
          </a:prstGeom>
          <a:solidFill>
            <a:srgbClr val="3A2215"/>
          </a:solidFill>
          <a:ln/>
        </p:spPr>
      </p:sp>
      <p:sp>
        <p:nvSpPr>
          <p:cNvPr id="21" name="Shape 15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2" name="Text 16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23" name="Text 17">
            <a:hlinkClick r:id="rId5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&amp; After  —  9 of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11247120" cy="27432"/>
          </a:xfrm>
          <a:prstGeom prst="rect">
            <a:avLst/>
          </a:prstGeom>
          <a:solidFill>
            <a:srgbClr val="3A22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2670048" cy="274320"/>
          </a:xfrm>
          <a:prstGeom prst="rect">
            <a:avLst/>
          </a:prstGeom>
          <a:solidFill>
            <a:srgbClr val="2A18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2670048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73552" y="594360"/>
            <a:ext cx="2670048" cy="274320"/>
          </a:xfrm>
          <a:prstGeom prst="rect">
            <a:avLst/>
          </a:prstGeom>
          <a:solidFill>
            <a:srgbClr val="3A20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73552" y="868680"/>
            <a:ext cx="2670048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27248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4160520"/>
            <a:ext cx="5486400" cy="1389888"/>
          </a:xfrm>
          <a:prstGeom prst="rect">
            <a:avLst/>
          </a:prstGeom>
          <a:solidFill>
            <a:srgbClr val="2C1810"/>
          </a:solidFill>
          <a:ln w="6350">
            <a:solidFill>
              <a:srgbClr val="E8C47A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251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Builder-Grade → Custom Elevated Look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" y="4782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Statement hardware · Premium material upgrade · Designer aesthetic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217920" y="594360"/>
            <a:ext cx="2670048" cy="274320"/>
          </a:xfrm>
          <a:prstGeom prst="rect">
            <a:avLst/>
          </a:prstGeom>
          <a:solidFill>
            <a:srgbClr val="2A18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868680"/>
            <a:ext cx="2670048" cy="3291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34272" y="594360"/>
            <a:ext cx="2670048" cy="274320"/>
          </a:xfrm>
          <a:prstGeom prst="rect">
            <a:avLst/>
          </a:prstGeom>
          <a:solidFill>
            <a:srgbClr val="3A20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34272" y="868680"/>
            <a:ext cx="2670048" cy="32918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87968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217920" y="4160520"/>
            <a:ext cx="5486400" cy="1389888"/>
          </a:xfrm>
          <a:prstGeom prst="rect">
            <a:avLst/>
          </a:prstGeom>
          <a:solidFill>
            <a:srgbClr val="2C1810"/>
          </a:solidFill>
          <a:ln w="6350">
            <a:solidFill>
              <a:srgbClr val="E8C47A">
                <a:alpha val="3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355080" y="4251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Outdated Kitchen → Showroom-Ready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55080" y="4782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Mixed metal accents · Custom panel inserts · Full transformation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007608" y="594360"/>
            <a:ext cx="54864" cy="5852160"/>
          </a:xfrm>
          <a:prstGeom prst="rect">
            <a:avLst/>
          </a:prstGeom>
          <a:solidFill>
            <a:srgbClr val="3A2215"/>
          </a:solidFill>
          <a:ln/>
        </p:spPr>
      </p:sp>
      <p:sp>
        <p:nvSpPr>
          <p:cNvPr id="21" name="Shape 15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2" name="Text 16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23" name="Text 17">
            <a:hlinkClick r:id="rId5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45720" cy="685800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ABODABLE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91440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Choose 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320040"/>
            <a:ext cx="34747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C4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60520" y="320040"/>
            <a:ext cx="64008" cy="1417320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5112" y="502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10328" y="45720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Before You Build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343400" y="106984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Approve your design before a single cabinet is touched.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09560" y="320040"/>
            <a:ext cx="34747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C4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09560" y="320040"/>
            <a:ext cx="64008" cy="1417320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502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59368" y="45720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Unlimited Style Options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092440" y="106984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dozens of combinations with zero commitment.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60520" y="1874520"/>
            <a:ext cx="34747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C47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60520" y="1874520"/>
            <a:ext cx="64008" cy="1417320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20574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10328" y="201168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Pricing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343400" y="262432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itemized proposals — no hidden fees, ever.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909560" y="1874520"/>
            <a:ext cx="34747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C47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909560" y="1874520"/>
            <a:ext cx="64008" cy="1417320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20574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59368" y="201168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Homeowners &amp; Investors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8092440" y="262432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Packages tailored to personal homes and rental/resale.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160520" y="3429000"/>
            <a:ext cx="34747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C47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160520" y="3429000"/>
            <a:ext cx="64008" cy="1417320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61188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910328" y="35661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Turnaround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343400" y="417880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Streamlined process with minimal disruption to your life.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909560" y="3429000"/>
            <a:ext cx="34747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C47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909560" y="3429000"/>
            <a:ext cx="64008" cy="1417320"/>
          </a:xfrm>
          <a:prstGeom prst="rect">
            <a:avLst/>
          </a:prstGeom>
          <a:solidFill>
            <a:srgbClr val="C8973F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3611880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659368" y="35661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Service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8092440" y="417880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3A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manage every step from consultation to final walkthrough.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8" name="Text 30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39" name="Text 31">
            <a:hlinkClick r:id="rId7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C181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91440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97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LET'S GET STARTED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0" y="1261872"/>
            <a:ext cx="12161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Reimagine</a:t>
            </a:r>
            <a:endParaRPr lang="en-US" sz="4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Kitchen?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5440680" y="3127248"/>
            <a:ext cx="1280160" cy="45720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32735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C8A8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Schedule a free consultation today. We'll review your space and show you what's possible.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560320" y="4041648"/>
            <a:ext cx="3291840" cy="914400"/>
          </a:xfrm>
          <a:prstGeom prst="rect">
            <a:avLst/>
          </a:prstGeom>
          <a:solidFill>
            <a:srgbClr val="3A1F12"/>
          </a:solidFill>
          <a:ln w="9525">
            <a:solidFill>
              <a:srgbClr val="E8C4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0" y="4041648"/>
            <a:ext cx="3291840" cy="64008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0" y="4160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0" y="4443984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+1 (303) 578 2580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09360" y="4041648"/>
            <a:ext cx="3291840" cy="914400"/>
          </a:xfrm>
          <a:prstGeom prst="rect">
            <a:avLst/>
          </a:prstGeom>
          <a:solidFill>
            <a:srgbClr val="3A1F12"/>
          </a:solidFill>
          <a:ln w="9525">
            <a:solidFill>
              <a:srgbClr val="E8C4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4041648"/>
            <a:ext cx="3291840" cy="64008"/>
          </a:xfrm>
          <a:prstGeom prst="rect">
            <a:avLst/>
          </a:prstGeom>
          <a:solidFill>
            <a:srgbClr val="C8973F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4160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EMAIL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09360" y="4443984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services@milehighlabs.ai</a:t>
            </a:r>
            <a:endParaRPr lang="en-US" sz="1500" dirty="0"/>
          </a:p>
        </p:txBody>
      </p:sp>
      <p:sp>
        <p:nvSpPr>
          <p:cNvPr id="16" name="Text 13">
            <a:hlinkClick r:id="rId2" tooltip=""/>
          </p:cNvPr>
          <p:cNvSpPr/>
          <p:nvPr/>
        </p:nvSpPr>
        <p:spPr>
          <a:xfrm>
            <a:off x="0" y="5212080"/>
            <a:ext cx="1216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Book Your Free 15-Min Consultation at cal.com/milehighailabs/15min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652881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ABODABLE RENOVATIONS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·   </a:t>
            </a:r>
            <a:pPr indent="0" marL="0">
              <a:buNone/>
            </a:pPr>
            <a:r>
              <a:rPr lang="en-US" sz="800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Powered by Mile High AI Labs</a:t>
            </a:r>
            <a:endParaRPr lang="en-US" sz="800" dirty="0"/>
          </a:p>
        </p:txBody>
      </p:sp>
      <p:sp>
        <p:nvSpPr>
          <p:cNvPr id="19" name="Text 16">
            <a:hlinkClick r:id="rId3" tooltip=""/>
          </p:cNvPr>
          <p:cNvSpPr/>
          <p:nvPr/>
        </p:nvSpPr>
        <p:spPr>
          <a:xfrm>
            <a:off x="10149840" y="65288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E8C47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www.milehighlabs.ai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Abodable Renovations — Kitchen Cabinet Proposal</dc:title>
  <dc:subject>PptxGenJS Presentation</dc:subject>
  <dc:creator>Abodable Renovations</dc:creator>
  <cp:lastModifiedBy>Abodable Renovations</cp:lastModifiedBy>
  <cp:revision>1</cp:revision>
  <dcterms:created xsi:type="dcterms:W3CDTF">2026-04-01T22:07:22Z</dcterms:created>
  <dcterms:modified xsi:type="dcterms:W3CDTF">2026-04-01T22:07:22Z</dcterms:modified>
</cp:coreProperties>
</file>